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BFA5"/>
                </a:solidFill>
                <a:latin typeface="Calibri"/>
              </a:defRPr>
            </a:pPr>
            <a:r>
              <a:t>SafeDriver-IQ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Inverse Crash Modeling for Driver Competency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108960"/>
            <a:ext cx="2286000" cy="508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Quantifying driver safety through continuous scoring (0-100),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with special focus on Vulnerable Road User (VRU) protection.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Samaresh  |  February 2026  |  github.com/ssam18/safedriver-iq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FA5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377440" cy="201168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74C3C"/>
                </a:solidFill>
                <a:latin typeface="Calibri"/>
              </a:defRPr>
            </a:pPr>
            <a:r>
              <a:t>7,500+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Pedestrian deaths</a:t>
            </a:r>
            <a:br/>
            <a:r>
              <a:t>per year in USA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554480"/>
            <a:ext cx="2377440" cy="201168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691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8C00"/>
                </a:solidFill>
                <a:latin typeface="Calibri"/>
              </a:defRPr>
            </a:pPr>
            <a:r>
              <a:t>1,000+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4688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Cyclist deaths</a:t>
            </a:r>
            <a:br/>
            <a:r>
              <a:t>per year in USA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554480"/>
            <a:ext cx="2377440" cy="201168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691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39C12"/>
                </a:solidFill>
                <a:latin typeface="Calibri"/>
              </a:defRPr>
            </a:pPr>
            <a:r>
              <a:t>40-Year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4688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Record high for</a:t>
            </a:r>
            <a:br/>
            <a:r>
              <a:t>VRU fatalities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554480"/>
            <a:ext cx="2377440" cy="201168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1691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B59B6"/>
                </a:solidFill>
                <a:latin typeface="Calibri"/>
              </a:defRPr>
            </a:pPr>
            <a:r>
              <a:t>Reactive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4688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Current ADAS</a:t>
            </a:r>
            <a:br/>
            <a:r>
              <a:t>systems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319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1000"/>
              </a:spcBef>
              <a:spcAft>
                <a:spcPts val="20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•  Traditional systems only warn AFTER danger is detected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•  No system tells drivers "you're safe" or "improve these specific behaviors"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•  Binary crash predictions (30% risk) aren't actionable for drivers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FA5"/>
                </a:solidFill>
                <a:latin typeface="Calibri"/>
              </a:defRPr>
            </a:pPr>
            <a:r>
              <a:t>Our Solution: Inverse Safety Modeling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A5"/>
                </a:solidFill>
                <a:latin typeface="Calibri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3200400" y="13716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Traditional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3716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SafeDriver-IQ (Novel)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20"/>
            <a:ext cx="10972800" cy="685800"/>
          </a:xfrm>
          <a:prstGeom prst="roundRect">
            <a:avLst/>
          </a:prstGeom>
          <a:solidFill>
            <a:srgbClr val="222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A5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92024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74C3C"/>
                </a:solidFill>
                <a:latin typeface="Calibri"/>
              </a:defRPr>
            </a:pPr>
            <a:r>
              <a:t>Binary crash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92024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ECC71"/>
                </a:solidFill>
                <a:latin typeface="Calibri"/>
              </a:defRPr>
            </a:pPr>
            <a:r>
              <a:t>Continuous safety score (0-100)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51760"/>
            <a:ext cx="10972800" cy="6858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A5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69748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74C3C"/>
                </a:solidFill>
                <a:latin typeface="Calibri"/>
              </a:defRPr>
            </a:pPr>
            <a:r>
              <a:t>"30% crash risk"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69748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ECC71"/>
                </a:solidFill>
                <a:latin typeface="Calibri"/>
              </a:defRPr>
            </a:pPr>
            <a:r>
              <a:t>"Safety score: 72/100 → Improve to 85+"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29000"/>
            <a:ext cx="10972800" cy="685800"/>
          </a:xfrm>
          <a:prstGeom prst="roundRect">
            <a:avLst/>
          </a:prstGeom>
          <a:solidFill>
            <a:srgbClr val="222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A5"/>
                </a:solidFill>
                <a:latin typeface="Calibri"/>
              </a:defRPr>
            </a:pPr>
            <a:r>
              <a:t>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47472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74C3C"/>
                </a:solidFill>
                <a:latin typeface="Calibri"/>
              </a:defRPr>
            </a:pPr>
            <a:r>
              <a:t>Reactive warnings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47472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ECC71"/>
                </a:solidFill>
                <a:latin typeface="Calibri"/>
              </a:defRPr>
            </a:pPr>
            <a:r>
              <a:t>Proactive guidance with actions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06240"/>
            <a:ext cx="10972800" cy="6858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2519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A5"/>
                </a:solidFill>
                <a:latin typeface="Calibri"/>
              </a:defRPr>
            </a:pPr>
            <a:r>
              <a:t>Focus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2519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74C3C"/>
                </a:solidFill>
                <a:latin typeface="Calibri"/>
              </a:defRPr>
            </a:pPr>
            <a:r>
              <a:t>General risk factors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2519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ECC71"/>
                </a:solidFill>
                <a:latin typeface="Calibri"/>
              </a:defRPr>
            </a:pPr>
            <a:r>
              <a:t>VRU-specific safety models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212080"/>
            <a:ext cx="10515600" cy="914400"/>
          </a:xfrm>
          <a:prstGeom prst="roundRect">
            <a:avLst/>
          </a:prstGeom>
          <a:solidFill>
            <a:srgbClr val="0A3D36"/>
          </a:solidFill>
          <a:ln w="1270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FA5"/>
                </a:solidFill>
                <a:latin typeface="Calibri"/>
              </a:defRPr>
            </a:pPr>
            <a:r>
              <a:t>💡 Key Insight:  Instead of predicting crashes, we compute "distance from crash boundary" as a continuous safety score.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FA5"/>
                </a:solidFill>
                <a:latin typeface="Calibri"/>
              </a:defRPr>
            </a:pPr>
            <a:r>
              <a:t>The Data: CRSS Dataset (2016-2023)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377440" cy="182880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  <a:latin typeface="Calibri"/>
              </a:defRPr>
            </a:pPr>
            <a:r>
              <a:t>417,335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  <a:latin typeface="Calibri"/>
              </a:defRPr>
            </a:pPr>
            <a:r>
              <a:t>Total Crash</a:t>
            </a:r>
            <a:br/>
            <a:r>
              <a:t>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554480"/>
            <a:ext cx="2377440" cy="182880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691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E74C3C"/>
                </a:solidFill>
                <a:latin typeface="Calibri"/>
              </a:defRPr>
            </a:pPr>
            <a:r>
              <a:t>38,462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3317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  <a:latin typeface="Calibri"/>
              </a:defRPr>
            </a:pPr>
            <a:r>
              <a:t>VRU Crashes</a:t>
            </a:r>
            <a:br/>
            <a:r>
              <a:t>(Ped + Cyclist)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554480"/>
            <a:ext cx="2377440" cy="182880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691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2ECC71"/>
                </a:solidFill>
                <a:latin typeface="Calibri"/>
              </a:defRPr>
            </a:pPr>
            <a:r>
              <a:t>1,032,571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317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  <a:latin typeface="Calibri"/>
              </a:defRPr>
            </a:pPr>
            <a:r>
              <a:t>Person</a:t>
            </a:r>
            <a:br/>
            <a:r>
              <a:t>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554480"/>
            <a:ext cx="2377440" cy="182880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1691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8C00"/>
                </a:solidFill>
                <a:latin typeface="Calibri"/>
              </a:defRPr>
            </a:pPr>
            <a:r>
              <a:t>8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3317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  <a:latin typeface="Calibri"/>
              </a:defRPr>
            </a:pPr>
            <a:r>
              <a:t>National NHTSA</a:t>
            </a:r>
            <a:br/>
            <a: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FA5"/>
                </a:solidFill>
                <a:latin typeface="Calibri"/>
              </a:defRPr>
            </a:pPr>
            <a:r>
              <a:t>Data Files: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  •  ACCIDENT.csv — Crash-level records (~90 columns)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  •  VEHICLE.csv — Vehicle information (~70 columns)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  •  PERSON.csv — Person-level data (~50 columns)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  •  PBTYPE.csv — Pedestrian/bicycle type (~20 columns)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84048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FA5"/>
                </a:solidFill>
                <a:latin typeface="Calibri"/>
              </a:defRPr>
            </a:pPr>
            <a:r>
              <a:t>Why This Dataset?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  ✓  National coverage — statistically representative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  ✓  Rich features — weather, lighting, road, driver info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  ✓  VRU crash types — dedicated pedestrian/cyclist data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  ✓  Large scale — 210+ raw columns across all 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FA5"/>
                </a:solidFill>
                <a:latin typeface="Calibri"/>
              </a:defRPr>
            </a:pPr>
            <a:r>
              <a:t>Feature Engineering: 210 Raw → 105 Engineered → 57 Selected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1691640" cy="237744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98DB"/>
                </a:solidFill>
                <a:latin typeface="Calibri"/>
              </a:defRPr>
            </a:pPr>
            <a:r>
              <a:t>Temporal (6)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1508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HOUR, IS_NIGHT,</a:t>
            </a:r>
            <a:br/>
            <a:r>
              <a:t>IS_RUSH_HOUR,</a:t>
            </a:r>
            <a:br/>
            <a:r>
              <a:t>IS_WEEKEND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50008" y="1371600"/>
            <a:ext cx="1691640" cy="237744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41448" y="146304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  <a:latin typeface="Calibri"/>
              </a:defRPr>
            </a:pPr>
            <a:r>
              <a:t>Environmental (7)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1448" y="2011680"/>
            <a:ext cx="1508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WEATHER, LGT_COND,</a:t>
            </a:r>
            <a:br/>
            <a:r>
              <a:t>ADVERSE_WEATHER,</a:t>
            </a:r>
            <a:br/>
            <a:r>
              <a:t>POOR_LIGHTING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97096" y="1371600"/>
            <a:ext cx="1691640" cy="237744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8536" y="146304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74C3C"/>
                </a:solidFill>
                <a:latin typeface="Calibri"/>
              </a:defRPr>
            </a:pPr>
            <a:r>
              <a:t>VRU-Specific (7)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8536" y="2011680"/>
            <a:ext cx="1508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total_vru,</a:t>
            </a:r>
            <a:br/>
            <a:r>
              <a:t>pedestrian_count,</a:t>
            </a:r>
            <a:br/>
            <a:r>
              <a:t>cyclist_count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44184" y="1371600"/>
            <a:ext cx="1691640" cy="237744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35624" y="146304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Calibri"/>
              </a:defRPr>
            </a:pPr>
            <a:r>
              <a:t>Driver/Vehicle (25)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5624" y="2011680"/>
            <a:ext cx="1508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SPEED_REL, HARM_EV,</a:t>
            </a:r>
            <a:br/>
            <a:r>
              <a:t>ALCOHOL, MAX_SEV,</a:t>
            </a:r>
            <a:br/>
            <a:r>
              <a:t>MAN_COLL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91272" y="1371600"/>
            <a:ext cx="1691640" cy="237744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82712" y="146304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B59B6"/>
                </a:solidFill>
                <a:latin typeface="Calibri"/>
              </a:defRPr>
            </a:pPr>
            <a:r>
              <a:t>Location (6)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2712" y="2011680"/>
            <a:ext cx="1508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IS_URBAN,</a:t>
            </a:r>
            <a:br/>
            <a:r>
              <a:t>HIGH_SPEED_ROAD,</a:t>
            </a:r>
            <a:br/>
            <a:r>
              <a:t>TYP_INT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38360" y="1371600"/>
            <a:ext cx="1691640" cy="237744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800" y="146304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9C12"/>
                </a:solidFill>
                <a:latin typeface="Calibri"/>
              </a:defRPr>
            </a:pPr>
            <a:r>
              <a:t>Interactions (3)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2011680"/>
            <a:ext cx="1508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NIGHT_AND_DARK,</a:t>
            </a:r>
            <a:br/>
            <a:r>
              <a:t>URBAN_HIGH_SPEED,</a:t>
            </a:r>
            <a:br/>
            <a:r>
              <a:t>WEEKEND_NIGHT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14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2000" b="1">
                <a:solidFill>
                  <a:srgbClr val="00BFA5"/>
                </a:solidFill>
                <a:latin typeface="Calibri"/>
              </a:defRPr>
            </a:pPr>
            <a:r>
              <a:t>Feature Engineering Pipeline: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  →  ~90 raw CRSS columns from ACCIDENT.csv → Added 20 engineered features → 105 total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  →  Removed IDs, non-numeric, target variable, redundant columns → 57 final features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  →  35% of final features are engineered — 5 of top 10 most important are engineered!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FA5"/>
                </a:solidFill>
                <a:latin typeface="Calibri"/>
              </a:defRPr>
            </a:pPr>
            <a:r>
              <a:t>How Inverse Modeling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1965960" cy="256032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150876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74C3C"/>
                </a:solidFill>
                <a:latin typeface="Calibri"/>
              </a:defRPr>
            </a:pPr>
            <a:r>
              <a:t>Collect Crash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5176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35,314 real VRU crashes</a:t>
            </a:r>
            <a:br/>
            <a:r>
              <a:t>from CRSS database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371600"/>
            <a:ext cx="1965960" cy="256032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37560" y="1508760"/>
            <a:ext cx="548640" cy="5486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1945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  <a:latin typeface="Calibri"/>
              </a:defRPr>
            </a:pPr>
            <a:r>
              <a:t>Create Safe Samples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65176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35,314 synthetic safe</a:t>
            </a:r>
            <a:br/>
            <a:r>
              <a:t>scenarios (modified</a:t>
            </a:r>
            <a:br/>
            <a:r>
              <a:t>crash conditions)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1371600"/>
            <a:ext cx="1965960" cy="256032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86400" y="1508760"/>
            <a:ext cx="548640" cy="54864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1945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98DB"/>
                </a:solidFill>
                <a:latin typeface="Calibri"/>
              </a:defRPr>
            </a:pPr>
            <a:r>
              <a:t>Train Classifier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65176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Binary classification:</a:t>
            </a:r>
            <a:br/>
            <a:r>
              <a:t>Crash (1) vs Safe (0)</a:t>
            </a:r>
            <a:br/>
            <a:r>
              <a:t>using 57 features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1371600"/>
            <a:ext cx="1965960" cy="256032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1508760"/>
            <a:ext cx="548640" cy="548640"/>
          </a:xfrm>
          <a:prstGeom prst="ellipse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1945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FA5"/>
                </a:solidFill>
                <a:latin typeface="Calibri"/>
              </a:defRPr>
            </a:pPr>
            <a:r>
              <a:t>Compute Distance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65176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Distance from decision</a:t>
            </a:r>
            <a:br/>
            <a:r>
              <a:t>boundary = Safety</a:t>
            </a:r>
            <a:br/>
            <a:r>
              <a:t>Score (0-100)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1371600"/>
            <a:ext cx="1965960" cy="256032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84080" y="1508760"/>
            <a:ext cx="548640" cy="5486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21945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Calibri"/>
              </a:defRPr>
            </a:pPr>
            <a:r>
              <a:t>Extract Profile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265176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"Good Driver Profile"</a:t>
            </a:r>
            <a:br/>
            <a:r>
              <a:t>from safest regions</a:t>
            </a:r>
            <a:br/>
            <a:r>
              <a:t>of feature space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297680"/>
            <a:ext cx="10515600" cy="2011680"/>
          </a:xfrm>
          <a:prstGeom prst="roundRect">
            <a:avLst/>
          </a:prstGeom>
          <a:solidFill>
            <a:srgbClr val="0A3D36"/>
          </a:solidFill>
          <a:ln w="1270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389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FA5"/>
                </a:solidFill>
                <a:latin typeface="Calibri"/>
              </a:defRPr>
            </a:pPr>
            <a:r>
              <a:t>Safety Score Interpretation: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892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74C3C"/>
                </a:solidFill>
                <a:latin typeface="Calibri"/>
              </a:defRPr>
            </a:pPr>
            <a:r>
              <a:t>0-40  Critical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212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Emergency intervention needed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4892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8C00"/>
                </a:solidFill>
                <a:latin typeface="Calibri"/>
              </a:defRPr>
            </a:pPr>
            <a:r>
              <a:t>40-60  High Risk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5212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Strong warnings issued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4892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39C12"/>
                </a:solidFill>
                <a:latin typeface="Calibri"/>
              </a:defRPr>
            </a:pPr>
            <a:r>
              <a:t>60-75  Medium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5212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Gentle guidance provided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4892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498DB"/>
                </a:solidFill>
                <a:latin typeface="Calibri"/>
              </a:defRPr>
            </a:pPr>
            <a:r>
              <a:t>75-85  Low Risk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5212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Minor suggestions only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4892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CC71"/>
                </a:solidFill>
                <a:latin typeface="Calibri"/>
              </a:defRPr>
            </a:pPr>
            <a:r>
              <a:t>85-100  Excellent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5212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Positive feedback given!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FA5"/>
                </a:solidFill>
                <a:latin typeface="Calibri"/>
              </a:defRPr>
            </a:pPr>
            <a:r>
              <a:t>Model Training: Three Algorithms Compared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383280" cy="420624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98DB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Ensemble of 100 decision trees</a:t>
            </a:r>
            <a:br/>
            <a:r>
              <a:t>trained on random data subsets.</a:t>
            </a:r>
            <a:br/>
            <a:r>
              <a:t>Predictions averaged for robustness.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98DB"/>
                </a:solidFill>
                <a:latin typeface="Calibri"/>
              </a:defRPr>
            </a:pPr>
            <a:r>
              <a:t>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n_estimators=100</a:t>
            </a:r>
            <a:br/>
            <a:r>
              <a:t>max_depth=10</a:t>
            </a:r>
            <a:br/>
            <a:r>
              <a:t>min_samples_split=20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06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Accuracy: 99.38%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ROC AUC: 0.9985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371600"/>
            <a:ext cx="3383280" cy="4206240"/>
          </a:xfrm>
          <a:prstGeom prst="roundRect">
            <a:avLst/>
          </a:prstGeom>
          <a:solidFill>
            <a:srgbClr val="0A3D36"/>
          </a:solidFill>
          <a:ln w="3810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CC71"/>
                </a:solidFill>
                <a:latin typeface="Calibri"/>
              </a:defRPr>
            </a:pPr>
            <a:r>
              <a:t>XGBoost  ★ WINNER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0116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Sequential gradient boosting.</a:t>
            </a:r>
            <a:br/>
            <a:r>
              <a:t>Each tree corrects errors of</a:t>
            </a:r>
            <a:br/>
            <a:r>
              <a:t>previous trees. Industry standard.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0175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Configuration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2918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n_estimators=100</a:t>
            </a:r>
            <a:br/>
            <a:r>
              <a:t>max_depth=6</a:t>
            </a:r>
            <a:br/>
            <a:r>
              <a:t>learning_rate=0.1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206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  <a:latin typeface="Calibri"/>
              </a:defRPr>
            </a:pPr>
            <a:r>
              <a:t>Accuracy: 99.45%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572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ROC AUC: 0.9990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1371600"/>
            <a:ext cx="3383280" cy="420624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9B59B6"/>
                </a:solidFill>
                <a:latin typeface="Calibri"/>
              </a:defRPr>
            </a:pPr>
            <a:r>
              <a:t>Gradient Boosting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0116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Sklearn's boosting implementation.</a:t>
            </a:r>
            <a:br/>
            <a:r>
              <a:t>More conservative, good baseline</a:t>
            </a:r>
            <a:br/>
            <a:r>
              <a:t>for comparison.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0175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B59B6"/>
                </a:solidFill>
                <a:latin typeface="Calibri"/>
              </a:defRPr>
            </a:pPr>
            <a:r>
              <a:t>Configuration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2918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n_estimators=100</a:t>
            </a:r>
            <a:br/>
            <a:r>
              <a:t>max_depth=5</a:t>
            </a:r>
            <a:br/>
            <a:r>
              <a:t>learning_rate=0.1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206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Accuracy: 99.30%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572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ROC AUC: 0.9978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  <a:latin typeface="Calibri"/>
              </a:defRPr>
            </a:pPr>
            <a:r>
              <a:t>Why 3 Models?  Different algorithms learn different patterns — comparing validates that results aren't algorithm-specific.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FA5"/>
                </a:solidFill>
                <a:latin typeface="Calibri"/>
              </a:defRPr>
            </a:pPr>
            <a:r>
              <a:t>Results: Feature Importance (XGBoost)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14630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SPEED_REL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463040"/>
            <a:ext cx="5486400" cy="347472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4630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Calibri"/>
              </a:defRPr>
            </a:pPr>
            <a:r>
              <a:t>43.2%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" y="188366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total_vru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883664"/>
            <a:ext cx="1625600" cy="34747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0240" y="188366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Calibri"/>
              </a:defRPr>
            </a:pPr>
            <a:r>
              <a:t>12.8%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" y="23042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ADVERSE_WEATHER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304288"/>
            <a:ext cx="711200" cy="34747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5840" y="23042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98DB"/>
                </a:solidFill>
                <a:latin typeface="Calibri"/>
              </a:defRPr>
            </a:pPr>
            <a:r>
              <a:t>5.6%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" y="27249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PEDS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724912"/>
            <a:ext cx="685800" cy="34747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7249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Calibri"/>
              </a:defRPr>
            </a:pPr>
            <a:r>
              <a:t>5.4%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" y="31455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LGTCON_IM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3145536"/>
            <a:ext cx="685800" cy="34747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31455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98DB"/>
                </a:solidFill>
                <a:latin typeface="Calibri"/>
              </a:defRPr>
            </a:pPr>
            <a:r>
              <a:t>5.4%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" y="35661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LGT_COND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3566160"/>
            <a:ext cx="622300" cy="34747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940" y="35661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98DB"/>
                </a:solidFill>
                <a:latin typeface="Calibri"/>
              </a:defRPr>
            </a:pPr>
            <a:r>
              <a:t>4.9%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" y="398678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pedestrian_count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3986784"/>
            <a:ext cx="609600" cy="34747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44240" y="39867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Calibri"/>
              </a:defRPr>
            </a:pPr>
            <a:r>
              <a:t>4.8%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" y="44074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NIGHT_AND_DARK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4407408"/>
            <a:ext cx="457200" cy="347472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44074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  <a:latin typeface="Calibri"/>
              </a:defRPr>
            </a:pPr>
            <a:r>
              <a:t>3.6%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" y="48280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HARM_EV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0" y="4828032"/>
            <a:ext cx="368299" cy="347472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2939" y="482803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Calibri"/>
              </a:defRPr>
            </a:pPr>
            <a:r>
              <a:t>2.9%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" y="524865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ROAD_COND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5248656"/>
            <a:ext cx="241299" cy="34747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75939" y="524865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98DB"/>
                </a:solidFill>
                <a:latin typeface="Calibri"/>
              </a:defRPr>
            </a:pPr>
            <a:r>
              <a:t>1.9%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146304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FA5"/>
                </a:solidFill>
                <a:latin typeface="Calibri"/>
              </a:defRPr>
            </a:pPr>
            <a:r>
              <a:t>Key Insights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E74C3C"/>
                </a:solidFill>
                <a:latin typeface="Calibri"/>
              </a:defRPr>
            </a:pPr>
            <a:r>
              <a:t>▸ Speed dominates (43%)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Single most important factor.</a:t>
            </a:r>
            <a:br/>
            <a:r>
              <a:t>Reflects synthetic safe sample</a:t>
            </a:r>
            <a:br/>
            <a:r>
              <a:t>creation process.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▸ VRU features (23%)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total_vru + PEDS + pedestrian_</a:t>
            </a:r>
            <a:br/>
            <a:r>
              <a:t>count combined. Validates</a:t>
            </a:r>
            <a:br/>
            <a:r>
              <a:t>our VRU focus.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3498DB"/>
                </a:solidFill>
                <a:latin typeface="Calibri"/>
              </a:defRPr>
            </a:pPr>
            <a:r>
              <a:t>▸ Environment (16%)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Weather + lighting combined.</a:t>
            </a:r>
            <a:br/>
            <a:r>
              <a:t>Night + darkness interaction</a:t>
            </a:r>
            <a:br/>
            <a:r>
              <a:t>is particularly important.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F39C12"/>
                </a:solidFill>
                <a:latin typeface="Calibri"/>
              </a:defRPr>
            </a:pPr>
            <a:r>
              <a:t>▸ Known limitation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Road condition only 1.9%.</a:t>
            </a:r>
            <a:br/>
            <a:r>
              <a:t>Model treats ice = dry.</a:t>
            </a:r>
            <a:br/>
            <a:r>
              <a:t>Future: collect real data.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FA5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91440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41732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CRSS Data (2016-2023)</a:t>
            </a:r>
            <a:br/>
            <a:r>
              <a:t>417K Crashes → Data Loader → Feature Engineer (57 features)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43600" y="2286000"/>
            <a:ext cx="365760" cy="320040"/>
          </a:xfrm>
          <a:prstGeom prst="downArrow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10515600" cy="91440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ML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51460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Crash Samples + Synthetic Safe Samples → RF / XGBoost / GB → Best Model Selection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43600" y="3383280"/>
            <a:ext cx="365760" cy="320040"/>
          </a:xfrm>
          <a:prstGeom prst="downArrow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10515600" cy="91440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11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Inverse Modeling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61188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Safety Score Computation (0-100) → Good Driver Profile Extraction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43600" y="4480560"/>
            <a:ext cx="365760" cy="320040"/>
          </a:xfrm>
          <a:prstGeom prst="downArrow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10515600" cy="91440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09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Real-Time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70916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Real-Time Calculator → Safety Level → Warnings / Suggestions / Positive Feedback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760720"/>
            <a:ext cx="10515600" cy="640080"/>
          </a:xfrm>
          <a:prstGeom prst="roundRect">
            <a:avLst/>
          </a:prstGeom>
          <a:solidFill>
            <a:srgbClr val="0A3D36"/>
          </a:solidFill>
          <a:ln w="1270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806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BFA5"/>
                </a:solidFill>
                <a:latin typeface="Calibri"/>
              </a:defRPr>
            </a:pPr>
            <a:r>
              <a:t>Applications:   Streamlit Dashboard  |  Scenario Simulator  |  SHAP Analysis  |  Agentic AI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FA5"/>
                </a:solidFill>
                <a:latin typeface="Calibri"/>
              </a:defRPr>
            </a:pPr>
            <a:r>
              <a:t>Agentic AI Integration (Phase 1 Complete)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Transforming from passive safety scoring → active autonomous intervention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1965960" cy="256032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498DB"/>
                </a:solidFill>
                <a:latin typeface="Calibri"/>
              </a:defRPr>
            </a:pPr>
            <a:r>
              <a:t>Perception</a:t>
            </a:r>
            <a:br/>
            <a:r>
              <a:t>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4320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Sensor fusion</a:t>
            </a:r>
            <a:br/>
            <a:r>
              <a:t>VRU detection</a:t>
            </a:r>
            <a:br/>
            <a:r>
              <a:t>Road monitoring</a:t>
            </a:r>
            <a:br/>
            <a:r>
              <a:t>400+ LOC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920240"/>
            <a:ext cx="1965960" cy="256032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01168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ECC71"/>
                </a:solidFill>
                <a:latin typeface="Calibri"/>
              </a:defRPr>
            </a:pPr>
            <a:r>
              <a:t>Decision</a:t>
            </a:r>
            <a:br/>
            <a:r>
              <a:t>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74320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6-factor risk</a:t>
            </a:r>
            <a:br/>
            <a:r>
              <a:t>assessment.</a:t>
            </a:r>
            <a:br/>
            <a:r>
              <a:t>5 intervention</a:t>
            </a:r>
            <a:br/>
            <a:r>
              <a:t>levels. 700+ LOC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920240"/>
            <a:ext cx="1965960" cy="256032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201168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8C00"/>
                </a:solidFill>
                <a:latin typeface="Calibri"/>
              </a:defRPr>
            </a:pPr>
            <a:r>
              <a:t>Continuous</a:t>
            </a:r>
            <a:br/>
            <a:r>
              <a:t>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74320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Experience replay</a:t>
            </a:r>
            <a:br/>
            <a:r>
              <a:t>Online RL</a:t>
            </a:r>
            <a:br/>
            <a:r>
              <a:t>Weight adaptation</a:t>
            </a:r>
            <a:br/>
            <a:r>
              <a:t>550+ LOC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1920240"/>
            <a:ext cx="1965960" cy="256032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201168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74C3C"/>
                </a:solidFill>
                <a:latin typeface="Calibri"/>
              </a:defRPr>
            </a:pPr>
            <a:r>
              <a:t>Intervention</a:t>
            </a:r>
            <a:br/>
            <a:r>
              <a:t>Controller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74320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Brake control</a:t>
            </a:r>
            <a:br/>
            <a:r>
              <a:t>Multi-modal alerts</a:t>
            </a:r>
            <a:br/>
            <a:r>
              <a:t>Override mgmt</a:t>
            </a:r>
            <a:br/>
            <a:r>
              <a:t>650+ LOC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1965960" cy="256032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201168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9B59B6"/>
                </a:solidFill>
                <a:latin typeface="Calibri"/>
              </a:defRPr>
            </a:pPr>
            <a:r>
              <a:t>Simulation</a:t>
            </a:r>
            <a:br/>
            <a:r>
              <a:t>Framework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74320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6+ scenario types</a:t>
            </a:r>
            <a:br/>
            <a:r>
              <a:t>Randomized tests</a:t>
            </a:r>
            <a:br/>
            <a:r>
              <a:t>Sequence exec</a:t>
            </a:r>
            <a:br/>
            <a:r>
              <a:t>300+ LOC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463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200"/>
              </a:spcAft>
              <a:defRPr sz="1800" b="1">
                <a:solidFill>
                  <a:srgbClr val="00BFA5"/>
                </a:solidFill>
                <a:latin typeface="Calibri"/>
              </a:defRPr>
            </a:pPr>
            <a:r>
              <a:t>Key Achievement: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✓  2,650+ lines of production-ready code across 5 modules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✓  Uses existing trained XGBoost model (best_safety_model.pkl) for base safety scores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✓  Multi-factor risk: Safety Score + VRU Proximity + Road + Weather + Driver + Historical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✓  5 intervention levels: Passive → Gentle Warning → Audio Alert → Aggressive → Autonomous Brake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FA5"/>
                </a:solidFill>
                <a:latin typeface="Calibri"/>
              </a:defRPr>
            </a:pPr>
            <a:r>
              <a:t>Limitations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457200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Calibri"/>
              </a:defRPr>
            </a:pPr>
            <a:r>
              <a:t>Known Limitations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FF8C00"/>
                </a:solidFill>
                <a:latin typeface="Calibri"/>
              </a:defRPr>
            </a:pPr>
            <a:r>
              <a:t>⚠  Synthetic Safe Data Bias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    Speed dominates at 43% due to how</a:t>
            </a:r>
            <a:br/>
            <a:r>
              <a:t>safe samples were generated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FF8C00"/>
                </a:solidFill>
                <a:latin typeface="Calibri"/>
              </a:defRPr>
            </a:pPr>
            <a:r>
              <a:t>⚠  Road Condition Ignored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    Model treats ice = dry = wet</a:t>
            </a:r>
            <a:br/>
            <a:r>
              <a:t>(all show 100% safety)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FF8C00"/>
                </a:solidFill>
                <a:latin typeface="Calibri"/>
              </a:defRPr>
            </a:pPr>
            <a:r>
              <a:t>⚠  High Accuracy (99.45%)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    Suggests model learned synthetic</a:t>
            </a:r>
            <a:br/>
            <a:r>
              <a:t>patterns, not real safety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FF8C00"/>
                </a:solidFill>
                <a:latin typeface="Calibri"/>
              </a:defRPr>
            </a:pPr>
            <a:r>
              <a:t>⚠  Simulation Only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    No real-world vehicle sensor</a:t>
            </a:r>
            <a:br/>
            <a:r>
              <a:t>testing yet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029200" cy="457200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4630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Calibri"/>
              </a:defRPr>
            </a:pPr>
            <a:r>
              <a:t>Future Work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BFA5"/>
                </a:solidFill>
                <a:latin typeface="Calibri"/>
              </a:defRPr>
            </a:pPr>
            <a:r>
              <a:t>→  Short-term (1-2 months)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    Adversarial testing, baseline</a:t>
            </a:r>
            <a:br/>
            <a:r>
              <a:t>comparisons, ablation studies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BFA5"/>
                </a:solidFill>
                <a:latin typeface="Calibri"/>
              </a:defRPr>
            </a:pPr>
            <a:r>
              <a:t>→  Medium-term (3-6 months)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    Collect real driving data (100-500</a:t>
            </a:r>
            <a:br/>
            <a:r>
              <a:t>trips), hardware-in-loop testing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BFA5"/>
                </a:solidFill>
                <a:latin typeface="Calibri"/>
              </a:defRPr>
            </a:pPr>
            <a:r>
              <a:t>→  Long-term (6-12 months)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    Advanced RL (PPO/SAC), pilot</a:t>
            </a:r>
            <a:br/>
            <a:r>
              <a:t>deployment, multi-vehicle V2X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BFA5"/>
                </a:solidFill>
                <a:latin typeface="Calibri"/>
              </a:defRPr>
            </a:pPr>
            <a:r>
              <a:t>→  Publication Target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    IEEE T-ITS (IF: 8.5) or ICRA</a:t>
            </a:r>
            <a:br/>
            <a:r>
              <a:t>conference submission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BFA5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240280"/>
            <a:ext cx="2286000" cy="508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657600"/>
            <a:ext cx="2011680" cy="118872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03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  <a:latin typeface="Calibri"/>
              </a:defRPr>
            </a:pPr>
            <a:r>
              <a:t>417K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Crash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3657600"/>
            <a:ext cx="2011680" cy="118872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3703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  <a:latin typeface="Calibri"/>
              </a:defRPr>
            </a:pPr>
            <a:r>
              <a:t>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657600"/>
            <a:ext cx="2011680" cy="118872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703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FA5"/>
                </a:solidFill>
                <a:latin typeface="Calibri"/>
              </a:defRPr>
            </a:pPr>
            <a:r>
              <a:t>99.45%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3657600"/>
            <a:ext cx="2011680" cy="118872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3703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00"/>
                </a:solidFill>
                <a:latin typeface="Calibri"/>
              </a:defRPr>
            </a:pPr>
            <a:r>
              <a:t>2,650+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LOC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Samaresh  |  github.com/ssam18/safedriver-iq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BFA5"/>
                </a:solidFill>
                <a:latin typeface="Calibri"/>
              </a:defRPr>
            </a:pPr>
            <a:r>
              <a:t>"Moving from reactive emergency braking to proactive crash prevention."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